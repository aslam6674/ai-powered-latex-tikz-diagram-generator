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14278-C458-4C31-A5BB-5A36B4E1D055}" v="332" dt="2026-09-11T18:17:19.079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23645440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b="1" dirty="0"/>
              <a:t>Education / Academic Productivity</a:t>
            </a:r>
            <a:endParaRPr lang="en-US" sz="2400" dirty="0"/>
          </a:p>
          <a:p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b="1" dirty="0"/>
              <a:t>AI-Powered LaTeX </a:t>
            </a:r>
            <a:r>
              <a:rPr lang="en-IN" sz="2400" b="1" dirty="0" err="1"/>
              <a:t>TikZ</a:t>
            </a:r>
            <a:r>
              <a:rPr lang="en-IN" sz="2400" b="1" dirty="0"/>
              <a:t> Diagram Generator</a:t>
            </a:r>
            <a:endParaRPr lang="en-US" sz="2400" dirty="0"/>
          </a:p>
          <a:p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809E63-3282-21F2-106D-FFEE141B7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04094" y="3617703"/>
            <a:ext cx="963284" cy="12041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D69F00-E4F2-9515-08B7-68DF972D372D}"/>
              </a:ext>
            </a:extLst>
          </p:cNvPr>
          <p:cNvSpPr txBox="1"/>
          <p:nvPr/>
        </p:nvSpPr>
        <p:spPr>
          <a:xfrm>
            <a:off x="1301885" y="3960522"/>
            <a:ext cx="28294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Mohammad Aslam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EA3BF-A835-8820-3B64-3126158C5CF4}"/>
              </a:ext>
            </a:extLst>
          </p:cNvPr>
          <p:cNvSpPr txBox="1"/>
          <p:nvPr/>
        </p:nvSpPr>
        <p:spPr>
          <a:xfrm>
            <a:off x="5864790" y="3950839"/>
            <a:ext cx="23262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aslamaslam26511@gmail.com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7A4C3-7479-D9C6-1B5D-1277F95232E5}"/>
              </a:ext>
            </a:extLst>
          </p:cNvPr>
          <p:cNvSpPr txBox="1"/>
          <p:nvPr/>
        </p:nvSpPr>
        <p:spPr>
          <a:xfrm>
            <a:off x="8900465" y="3921205"/>
            <a:ext cx="32751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7396148451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15081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 dirty="0"/>
              <a:t>AI-Powered LaTeX </a:t>
            </a:r>
            <a:r>
              <a:rPr lang="en-IN" sz="2000" b="1" dirty="0" err="1"/>
              <a:t>TikZ</a:t>
            </a:r>
            <a:r>
              <a:rPr lang="en-IN" sz="2000" b="1" dirty="0"/>
              <a:t> Diagram Generator</a:t>
            </a:r>
            <a:endParaRPr lang="en-US" sz="2000" dirty="0"/>
          </a:p>
          <a:p>
            <a:r>
              <a:rPr lang="en-US" sz="1800" dirty="0"/>
              <a:t>An intelligent agent that automatically converts natural language descriptions and sketches into professional </a:t>
            </a:r>
            <a:r>
              <a:rPr lang="en-US" sz="1800" dirty="0" err="1"/>
              <a:t>TikZ</a:t>
            </a:r>
            <a:r>
              <a:rPr lang="en-US" sz="1800" dirty="0"/>
              <a:t> code for LaTeX documents. It provides real-time feedback, accepts </a:t>
            </a:r>
            <a:r>
              <a:rPr lang="en-US" sz="1800" dirty="0" err="1"/>
              <a:t>plainEnglish</a:t>
            </a:r>
            <a:r>
              <a:rPr lang="en-US" sz="1800" dirty="0"/>
              <a:t> refinement commands, and delivers publication-ready diagrams while eliminating manual coding complexity for researchers.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1090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00"/>
              </a:spcAft>
            </a:pPr>
            <a:r>
              <a:rPr lang="en-US" sz="1800" dirty="0"/>
              <a:t>The proposed solution is an intelligent agent that converts natural-language descriptions </a:t>
            </a:r>
            <a:r>
              <a:rPr lang="en-US" sz="1800" dirty="0" err="1"/>
              <a:t>intoprofessional</a:t>
            </a:r>
            <a:r>
              <a:rPr lang="en-US" sz="1800" dirty="0"/>
              <a:t> </a:t>
            </a:r>
            <a:r>
              <a:rPr lang="en-US" sz="1800" dirty="0" err="1"/>
              <a:t>TikZ</a:t>
            </a:r>
            <a:r>
              <a:rPr lang="en-US" sz="1800" dirty="0"/>
              <a:t> code for LaTeX academic documents. It is powered by IBM Granite 3.3 8BInstruct and deployed through IBM Watson Studio.</a:t>
            </a:r>
          </a:p>
          <a:p>
            <a:pPr>
              <a:spcAft>
                <a:spcPts val="100"/>
              </a:spcAft>
            </a:pPr>
            <a:endParaRPr lang="en-US" sz="1800" dirty="0"/>
          </a:p>
          <a:p>
            <a:pPr>
              <a:spcAft>
                <a:spcPts val="100"/>
              </a:spcAft>
            </a:pPr>
            <a:r>
              <a:rPr lang="en-US" sz="1800" dirty="0"/>
              <a:t>The system uses a Next.js 14 frontend with a chat UI and code panel. Users describe </a:t>
            </a:r>
            <a:r>
              <a:rPr lang="en-US" sz="1800" dirty="0" err="1"/>
              <a:t>adiagram</a:t>
            </a:r>
            <a:r>
              <a:rPr lang="en-US" sz="1800" dirty="0"/>
              <a:t>, select a diagram type and style, review generated </a:t>
            </a:r>
            <a:r>
              <a:rPr lang="en-US" sz="1800" dirty="0" err="1"/>
              <a:t>TikZ</a:t>
            </a:r>
            <a:r>
              <a:rPr lang="en-US" sz="1800" dirty="0"/>
              <a:t>, and refine it using </a:t>
            </a:r>
            <a:r>
              <a:rPr lang="en-US" sz="1800" dirty="0" err="1"/>
              <a:t>plainEnglish</a:t>
            </a:r>
            <a:r>
              <a:rPr lang="en-US" sz="1800" dirty="0"/>
              <a:t>.</a:t>
            </a:r>
          </a:p>
          <a:p>
            <a:pPr>
              <a:spcAft>
                <a:spcPts val="100"/>
              </a:spcAft>
            </a:pPr>
            <a:endParaRPr lang="en-US" sz="1800" dirty="0"/>
          </a:p>
          <a:p>
            <a:pPr>
              <a:spcAft>
                <a:spcPts val="100"/>
              </a:spcAft>
            </a:pPr>
            <a:r>
              <a:rPr lang="en-US" sz="1800" dirty="0"/>
              <a:t>Core capabilities include:</a:t>
            </a:r>
          </a:p>
          <a:p>
            <a:pPr>
              <a:spcAft>
                <a:spcPts val="100"/>
              </a:spcAft>
            </a:pPr>
            <a:r>
              <a:rPr lang="en-US" sz="1800" dirty="0"/>
              <a:t>• Generate – Create </a:t>
            </a:r>
            <a:r>
              <a:rPr lang="en-US" sz="1800" dirty="0" err="1"/>
              <a:t>compilable</a:t>
            </a:r>
            <a:r>
              <a:rPr lang="en-US" sz="1800" dirty="0"/>
              <a:t> </a:t>
            </a:r>
            <a:r>
              <a:rPr lang="en-US" sz="1800" dirty="0" err="1"/>
              <a:t>TikZ</a:t>
            </a:r>
            <a:r>
              <a:rPr lang="en-US" sz="1800" dirty="0"/>
              <a:t> from natural-language descriptions.</a:t>
            </a:r>
          </a:p>
          <a:p>
            <a:pPr>
              <a:spcAft>
                <a:spcPts val="100"/>
              </a:spcAft>
            </a:pPr>
            <a:r>
              <a:rPr lang="en-US" sz="1800" dirty="0"/>
              <a:t>• Refine – Modify existing diagrams through natural-language instructions.</a:t>
            </a:r>
          </a:p>
          <a:p>
            <a:pPr>
              <a:spcAft>
                <a:spcPts val="100"/>
              </a:spcAft>
            </a:pPr>
            <a:r>
              <a:rPr lang="en-US" sz="1800" dirty="0"/>
              <a:t>• Explain – Analyze </a:t>
            </a:r>
            <a:r>
              <a:rPr lang="en-US" sz="1800" dirty="0" err="1"/>
              <a:t>TikZ</a:t>
            </a:r>
            <a:r>
              <a:rPr lang="en-US" sz="1800" dirty="0"/>
              <a:t> code and suggest improvements.</a:t>
            </a:r>
          </a:p>
          <a:p>
            <a:pPr>
              <a:spcAft>
                <a:spcPts val="100"/>
              </a:spcAft>
            </a:pPr>
            <a:r>
              <a:rPr lang="en-US" sz="1800" dirty="0"/>
              <a:t>• Wrap – Create a standalone LaTeX document for compilation.</a:t>
            </a:r>
          </a:p>
          <a:p>
            <a:pPr>
              <a:spcAft>
                <a:spcPts val="100"/>
              </a:spcAft>
            </a:pPr>
            <a:r>
              <a:rPr lang="en-US" sz="1800" dirty="0"/>
              <a:t>• Templates – List available diagram templates.</a:t>
            </a:r>
          </a:p>
          <a:p>
            <a:pPr>
              <a:spcAft>
                <a:spcPts val="100"/>
              </a:spcAft>
            </a:pPr>
            <a:endParaRPr lang="en-US" sz="1800" dirty="0"/>
          </a:p>
          <a:p>
            <a:pPr>
              <a:spcAft>
                <a:spcPts val="100"/>
              </a:spcAft>
            </a:pPr>
            <a:r>
              <a:rPr lang="en-US" sz="1800" dirty="0"/>
              <a:t>An MCP server exposes five </a:t>
            </a:r>
            <a:r>
              <a:rPr lang="en-US" sz="1800" dirty="0" err="1"/>
              <a:t>TikZ</a:t>
            </a:r>
            <a:r>
              <a:rPr lang="en-US" sz="1800" dirty="0"/>
              <a:t> tools to IBM Bob: generate, refine, explain, wrap, and </a:t>
            </a:r>
            <a:r>
              <a:rPr lang="en-US" sz="1800" dirty="0" err="1"/>
              <a:t>listtemplates</a:t>
            </a:r>
            <a:r>
              <a:rPr lang="en-US" sz="1800" dirty="0"/>
              <a:t>. Watson Studio provides model inference, while IBM Cloud IAM </a:t>
            </a:r>
            <a:r>
              <a:rPr lang="en-US" sz="1800" dirty="0" err="1"/>
              <a:t>handlesauthentication</a:t>
            </a:r>
            <a:r>
              <a:rPr lang="en-US" sz="1800" dirty="0"/>
              <a:t>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 b="1" dirty="0"/>
              <a:t>IBM Bob –</a:t>
            </a:r>
            <a:r>
              <a:rPr lang="en-US" sz="1800" dirty="0"/>
              <a:t> Used with the MCP server to access the </a:t>
            </a:r>
            <a:r>
              <a:rPr lang="en-US" sz="1800" dirty="0" err="1"/>
              <a:t>TikZ</a:t>
            </a:r>
            <a:r>
              <a:rPr lang="en-US" sz="1800" dirty="0"/>
              <a:t> agent tools and </a:t>
            </a:r>
            <a:r>
              <a:rPr lang="en-US" sz="1800" dirty="0" err="1"/>
              <a:t>supportagentic</a:t>
            </a:r>
            <a:r>
              <a:rPr lang="en-US" sz="1800" dirty="0"/>
              <a:t>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3.3 8B Instruct – </a:t>
            </a:r>
            <a:r>
              <a:rPr lang="en-US" sz="1800" dirty="0"/>
              <a:t>The language model used for diagram </a:t>
            </a:r>
            <a:r>
              <a:rPr lang="en-US" sz="1800" dirty="0" err="1"/>
              <a:t>generation,refinement</a:t>
            </a:r>
            <a:r>
              <a:rPr lang="en-US" sz="1800" dirty="0"/>
              <a:t>, explanation, and improvement.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 Studio ML API (WML) –</a:t>
            </a:r>
            <a:r>
              <a:rPr lang="en-US" sz="1800" dirty="0"/>
              <a:t> Provides the inference API for Granite </a:t>
            </a:r>
            <a:r>
              <a:rPr lang="en-US" sz="1800" dirty="0" err="1"/>
              <a:t>modelrequests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IAM –</a:t>
            </a:r>
            <a:r>
              <a:rPr lang="en-US" sz="1800" dirty="0"/>
              <a:t> Handles authentication using an IBM Cloud API key and </a:t>
            </a:r>
            <a:r>
              <a:rPr lang="en-US" sz="1800" dirty="0" err="1"/>
              <a:t>bearertoken</a:t>
            </a:r>
            <a:r>
              <a:rPr lang="en-US" sz="1800" dirty="0"/>
              <a:t>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Next.js 14 –</a:t>
            </a:r>
            <a:r>
              <a:rPr lang="en-US" sz="1800" dirty="0"/>
              <a:t> Frontend framework for the chat interface and </a:t>
            </a:r>
            <a:r>
              <a:rPr lang="en-US" sz="1800" dirty="0" err="1"/>
              <a:t>TikZ</a:t>
            </a:r>
            <a:r>
              <a:rPr lang="en-US" sz="1800" dirty="0"/>
              <a:t> code panel.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MCP Server –</a:t>
            </a:r>
            <a:r>
              <a:rPr lang="en-US" sz="1800" dirty="0"/>
              <a:t> Exposes five tools to Bob: generate, refine, explain, wrap, and </a:t>
            </a:r>
            <a:r>
              <a:rPr lang="en-US" sz="1800" dirty="0" err="1"/>
              <a:t>listtemplates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LaTeX / </a:t>
            </a:r>
            <a:r>
              <a:rPr lang="en-US" sz="1800" b="1" dirty="0" err="1"/>
              <a:t>TikZ</a:t>
            </a:r>
            <a:r>
              <a:rPr lang="en-US" sz="1800" b="1" dirty="0"/>
              <a:t> –</a:t>
            </a:r>
            <a:r>
              <a:rPr lang="en-US" sz="1800" dirty="0"/>
              <a:t> Target document and diagram technology; generated diagrams can </a:t>
            </a:r>
            <a:r>
              <a:rPr lang="en-US" sz="1800" dirty="0" err="1"/>
              <a:t>becompiled</a:t>
            </a:r>
            <a:r>
              <a:rPr lang="en-US" sz="1800" dirty="0"/>
              <a:t> with </a:t>
            </a:r>
            <a:r>
              <a:rPr lang="en-US" sz="1800" dirty="0" err="1"/>
              <a:t>pdflatex</a:t>
            </a:r>
            <a:r>
              <a:rPr lang="en-US" sz="1800" dirty="0"/>
              <a:t> or </a:t>
            </a:r>
            <a:r>
              <a:rPr lang="en-US" sz="1800" dirty="0" err="1"/>
              <a:t>xelatex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67A182-886C-0775-2309-8C01F49F3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92" y="1049766"/>
            <a:ext cx="10107284" cy="521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20F9F5-1430-F047-77D3-4B4C772EC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6" y="1150408"/>
            <a:ext cx="10308567" cy="520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79D164-6DB9-563F-8CC5-3DD455E8B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30" y="474673"/>
            <a:ext cx="11128076" cy="586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8502B-05E9-019E-D66A-6048911DD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8" y="1013388"/>
            <a:ext cx="10739888" cy="526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770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00" dirty="0"/>
              <a:t>Role of Agentic AI in the LaTeX </a:t>
            </a:r>
            <a:r>
              <a:rPr lang="en-US" sz="1800" dirty="0" err="1"/>
              <a:t>TikZ</a:t>
            </a:r>
            <a:r>
              <a:rPr lang="en-US" sz="1800" dirty="0"/>
              <a:t> Diagram Generator</a:t>
            </a:r>
          </a:p>
          <a:p>
            <a:r>
              <a:rPr lang="en-US" sz="1800" dirty="0"/>
              <a:t>Agentic AI enables the system to move from simple </a:t>
            </a:r>
            <a:r>
              <a:rPr lang="en-US" sz="1800" err="1"/>
              <a:t>textgeneration</a:t>
            </a:r>
            <a:r>
              <a:rPr lang="en-US" sz="1800" dirty="0"/>
              <a:t> to an interactive diagram-generation </a:t>
            </a:r>
            <a:r>
              <a:rPr lang="en-US" sz="1800" err="1"/>
              <a:t>workflow.Users</a:t>
            </a:r>
            <a:r>
              <a:rPr lang="en-US" sz="1800" dirty="0"/>
              <a:t> describe a diagram in natural language, and </a:t>
            </a:r>
            <a:r>
              <a:rPr lang="en-US" sz="1800" err="1"/>
              <a:t>theagent</a:t>
            </a:r>
            <a:r>
              <a:rPr lang="en-US" sz="1800" dirty="0"/>
              <a:t> generates </a:t>
            </a:r>
            <a:r>
              <a:rPr lang="en-US" sz="1800" err="1"/>
              <a:t>TikZ</a:t>
            </a:r>
            <a:r>
              <a:rPr lang="en-US" sz="1800" dirty="0"/>
              <a:t> code that can be reviewed, </a:t>
            </a:r>
            <a:r>
              <a:rPr lang="en-US" sz="1800" dirty="0" err="1"/>
              <a:t>refined,explained</a:t>
            </a:r>
            <a:r>
              <a:rPr lang="en-US" sz="1800" dirty="0"/>
              <a:t>, and wrapped into a standalone LaTeX document.</a:t>
            </a:r>
          </a:p>
          <a:p>
            <a:endParaRPr lang="en-US" sz="1800" dirty="0"/>
          </a:p>
          <a:p>
            <a:r>
              <a:rPr lang="en-US" sz="1800" dirty="0"/>
              <a:t>The workflow supports specialized actions through </a:t>
            </a:r>
            <a:r>
              <a:rPr lang="en-US" sz="1800" err="1"/>
              <a:t>MCPtools</a:t>
            </a:r>
            <a:r>
              <a:rPr lang="en-US" sz="1800" dirty="0"/>
              <a:t>: generate, refine, explain, wrap, and list </a:t>
            </a:r>
            <a:r>
              <a:rPr lang="en-US" sz="1800" err="1"/>
              <a:t>templates.This</a:t>
            </a:r>
            <a:r>
              <a:rPr lang="en-US" sz="1800" dirty="0"/>
              <a:t> allows users to iteratively improve diagrams </a:t>
            </a:r>
            <a:r>
              <a:rPr lang="en-US" sz="1800" err="1"/>
              <a:t>usingplain</a:t>
            </a:r>
            <a:r>
              <a:rPr lang="en-US" sz="1800" dirty="0"/>
              <a:t>-English instructions instead of manually </a:t>
            </a:r>
            <a:r>
              <a:rPr lang="en-US" sz="1800" err="1"/>
              <a:t>editingcomplex</a:t>
            </a:r>
            <a:r>
              <a:rPr lang="en-US" sz="1800" dirty="0"/>
              <a:t> </a:t>
            </a:r>
            <a:r>
              <a:rPr lang="en-US" sz="1800" err="1"/>
              <a:t>TikZ</a:t>
            </a:r>
            <a:r>
              <a:rPr lang="en-US" sz="1800" dirty="0"/>
              <a:t> syntax.</a:t>
            </a:r>
          </a:p>
          <a:p>
            <a:endParaRPr lang="en-US" sz="2000" dirty="0"/>
          </a:p>
          <a:p>
            <a:r>
              <a:rPr lang="en-US" sz="1800" dirty="0"/>
              <a:t>The system combines a Next.js frontend, IBM </a:t>
            </a:r>
            <a:r>
              <a:rPr lang="en-US" sz="1800" err="1"/>
              <a:t>Granitemodel</a:t>
            </a:r>
            <a:r>
              <a:rPr lang="en-US" sz="1800" dirty="0"/>
              <a:t> inference through Watson Studio, and an </a:t>
            </a:r>
            <a:r>
              <a:rPr lang="en-US" sz="1800" err="1"/>
              <a:t>MCPserver</a:t>
            </a:r>
            <a:r>
              <a:rPr lang="en-US" sz="1800" dirty="0"/>
              <a:t> that exposes the diagram capabilities to IBM </a:t>
            </a:r>
            <a:r>
              <a:rPr lang="en-US" sz="1800" err="1"/>
              <a:t>Bob.This</a:t>
            </a:r>
            <a:r>
              <a:rPr lang="en-US" sz="1800" dirty="0"/>
              <a:t> makes the solution interactive, modular, and </a:t>
            </a:r>
            <a:r>
              <a:rPr lang="en-US" sz="1800" err="1"/>
              <a:t>suitablefor</a:t>
            </a:r>
            <a:r>
              <a:rPr lang="en-US" sz="1800" dirty="0"/>
              <a:t> academic diagram creation.</a:t>
            </a:r>
            <a:endParaRPr lang="en-US" sz="180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13A1D4-C7FF-D186-DFC5-D7841923D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3" y="819729"/>
            <a:ext cx="10581737" cy="582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C7C530-E9EF-30F9-3DC3-FBD6586AD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90" y="819730"/>
            <a:ext cx="10452340" cy="56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0909E-44CE-2B47-8EDA-9B5E6A42A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" y="934748"/>
            <a:ext cx="10725510" cy="570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00" dirty="0"/>
              <a:t>The proposed LaTeX </a:t>
            </a:r>
            <a:r>
              <a:rPr lang="en-US" sz="1800" dirty="0" err="1"/>
              <a:t>TikZ</a:t>
            </a:r>
            <a:r>
              <a:rPr lang="en-US" sz="1800" dirty="0"/>
              <a:t> Diagram Generator stands out by combining natural-</a:t>
            </a:r>
            <a:r>
              <a:rPr lang="en-US" sz="1800" dirty="0" err="1"/>
              <a:t>languageinteraction</a:t>
            </a:r>
            <a:r>
              <a:rPr lang="en-US" sz="1800" dirty="0"/>
              <a:t>, IBM Granite, </a:t>
            </a:r>
            <a:r>
              <a:rPr lang="en-US" sz="1800" dirty="0" err="1"/>
              <a:t>TikZ</a:t>
            </a:r>
            <a:r>
              <a:rPr lang="en-US" sz="1800" dirty="0"/>
              <a:t> generation, refinement, and IBM Bob integration.</a:t>
            </a:r>
          </a:p>
          <a:p>
            <a:endParaRPr lang="en-US" sz="1800" dirty="0"/>
          </a:p>
          <a:p>
            <a:r>
              <a:rPr lang="en-US" sz="1800" dirty="0"/>
              <a:t>Natural Language → </a:t>
            </a:r>
            <a:r>
              <a:rPr lang="en-US" sz="1800" dirty="0" err="1"/>
              <a:t>TikZ</a:t>
            </a:r>
            <a:r>
              <a:rPr lang="en-US" sz="1800" dirty="0"/>
              <a:t> – Converts plain-English diagram descriptions into </a:t>
            </a:r>
            <a:r>
              <a:rPr lang="en-US" sz="1800" dirty="0" err="1"/>
              <a:t>compilable</a:t>
            </a:r>
            <a:r>
              <a:rPr lang="en-US" sz="1800" dirty="0"/>
              <a:t> </a:t>
            </a:r>
            <a:r>
              <a:rPr lang="en-US" sz="1800" dirty="0" err="1"/>
              <a:t>TikZ</a:t>
            </a:r>
            <a:r>
              <a:rPr lang="en-US" sz="1800" dirty="0"/>
              <a:t>.</a:t>
            </a:r>
          </a:p>
          <a:p>
            <a:r>
              <a:rPr lang="en-US" sz="1800" dirty="0"/>
              <a:t>10 Diagram Types – Supports flowchart, neural network, block diagram, state machine, </a:t>
            </a:r>
            <a:r>
              <a:rPr lang="en-US" sz="1800" err="1"/>
              <a:t>sequence,tree</a:t>
            </a:r>
            <a:r>
              <a:rPr lang="en-US" sz="1800" dirty="0"/>
              <a:t>, graph, circuit, timeline, and </a:t>
            </a:r>
            <a:r>
              <a:rPr lang="en-US" sz="1800" err="1"/>
              <a:t>mindmap</a:t>
            </a:r>
            <a:r>
              <a:rPr lang="en-US" sz="1800" dirty="0"/>
              <a:t>.</a:t>
            </a:r>
          </a:p>
          <a:p>
            <a:r>
              <a:rPr lang="en-US" sz="1800" dirty="0"/>
              <a:t>Plain-English Refinement – Users can request targeted visual and structural changes </a:t>
            </a:r>
            <a:r>
              <a:rPr lang="en-US" sz="1800" err="1"/>
              <a:t>withoutmanually</a:t>
            </a:r>
            <a:r>
              <a:rPr lang="en-US" sz="1800" dirty="0"/>
              <a:t> editing code.</a:t>
            </a:r>
          </a:p>
          <a:p>
            <a:r>
              <a:rPr lang="en-US" sz="1800" dirty="0"/>
              <a:t>Style Presets – Minimal, Standard, and Detailed options support different presentation needs.</a:t>
            </a:r>
          </a:p>
          <a:p>
            <a:r>
              <a:rPr lang="en-US" sz="1800" dirty="0"/>
              <a:t>Explain &amp; Improve – Existing </a:t>
            </a:r>
            <a:r>
              <a:rPr lang="en-US" sz="1800" err="1"/>
              <a:t>TikZ</a:t>
            </a:r>
            <a:r>
              <a:rPr lang="en-US" sz="1800" dirty="0"/>
              <a:t> can be analyzed with publication-quality </a:t>
            </a:r>
            <a:r>
              <a:rPr lang="en-US" sz="1800" err="1"/>
              <a:t>improvementsuggestions</a:t>
            </a:r>
            <a:r>
              <a:rPr lang="en-US" sz="1800" dirty="0"/>
              <a:t>.</a:t>
            </a:r>
          </a:p>
          <a:p>
            <a:r>
              <a:rPr lang="en-US" sz="1800" dirty="0"/>
              <a:t>One-Click LaTeX Wrapping – Generated </a:t>
            </a:r>
            <a:r>
              <a:rPr lang="en-US" sz="1800" err="1"/>
              <a:t>TikZ</a:t>
            </a:r>
            <a:r>
              <a:rPr lang="en-US" sz="1800" dirty="0"/>
              <a:t> can be placed into a standalone LaTeX </a:t>
            </a:r>
            <a:r>
              <a:rPr lang="en-US" sz="1800" err="1"/>
              <a:t>documentfor</a:t>
            </a:r>
            <a:r>
              <a:rPr lang="en-US" sz="1800" dirty="0"/>
              <a:t> compilation.</a:t>
            </a:r>
          </a:p>
          <a:p>
            <a:r>
              <a:rPr lang="en-US" sz="1800" dirty="0"/>
              <a:t>MCP Integration – Five tools make the capabilities available to IBM Bob.</a:t>
            </a:r>
          </a:p>
          <a:p>
            <a:endParaRPr lang="en-US" sz="1800" dirty="0"/>
          </a:p>
          <a:p>
            <a:r>
              <a:rPr lang="en-US" sz="1800" dirty="0"/>
              <a:t>This makes the solution an interactive AI assistant for producing professional academic </a:t>
            </a:r>
            <a:r>
              <a:rPr lang="en-US" sz="1800" err="1"/>
              <a:t>diagramsrather</a:t>
            </a:r>
            <a:r>
              <a:rPr lang="en-US" sz="1800" dirty="0"/>
              <a:t> than a static code generator.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</a:pPr>
            <a:r>
              <a:rPr lang="en-US" sz="1850" dirty="0">
                <a:solidFill>
                  <a:srgbClr val="2B3541"/>
                </a:solidFill>
              </a:rPr>
              <a:t>https://github.com/Aslam6674/AI-powered-LaTeX-TikZ-diagram-generator</a:t>
            </a:r>
            <a:endParaRPr lang="en-US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>
                <a:latin typeface="Times New Roman"/>
                <a:ea typeface="Times New Roman"/>
                <a:cs typeface="Times New Roman"/>
              </a:rPr>
              <a:t>1. Expand Diagram Templates – Add more specialized academic and </a:t>
            </a:r>
            <a:r>
              <a:rPr lang="en-US" sz="2000" dirty="0" err="1">
                <a:latin typeface="Times New Roman"/>
                <a:ea typeface="Times New Roman"/>
                <a:cs typeface="Times New Roman"/>
              </a:rPr>
              <a:t>engineeringdiagram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 templates beyond the 10 currently supported types.</a:t>
            </a:r>
          </a:p>
          <a:p>
            <a:endParaRPr lang="en-US" sz="2000" dirty="0">
              <a:latin typeface="Times New Roman"/>
              <a:ea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Times New Roman"/>
                <a:cs typeface="Times New Roman"/>
              </a:rPr>
              <a:t>2. Advanced </a:t>
            </a:r>
            <a:r>
              <a:rPr lang="en-US" sz="2000" dirty="0" err="1">
                <a:latin typeface="Times New Roman"/>
                <a:ea typeface="Times New Roman"/>
                <a:cs typeface="Times New Roman"/>
              </a:rPr>
              <a:t>TikZ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 Refinement – Extend plain-English refinement to more </a:t>
            </a:r>
            <a:r>
              <a:rPr lang="en-US" sz="2000" dirty="0" err="1">
                <a:latin typeface="Times New Roman"/>
                <a:ea typeface="Times New Roman"/>
                <a:cs typeface="Times New Roman"/>
              </a:rPr>
              <a:t>detailedlayout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, styling, and structural transformations.</a:t>
            </a:r>
          </a:p>
          <a:p>
            <a:endParaRPr lang="en-US" sz="2000" dirty="0">
              <a:latin typeface="Times New Roman"/>
              <a:ea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Times New Roman"/>
                <a:cs typeface="Times New Roman"/>
              </a:rPr>
              <a:t>3. Enhanced Publication Workflows – Further improve Explain &amp; </a:t>
            </a:r>
            <a:r>
              <a:rPr lang="en-US" sz="2000" dirty="0" err="1">
                <a:latin typeface="Times New Roman"/>
                <a:ea typeface="Times New Roman"/>
                <a:cs typeface="Times New Roman"/>
              </a:rPr>
              <a:t>Improvecapabilities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 for publication-quality diagrams and LaTeX documents.</a:t>
            </a:r>
          </a:p>
          <a:p>
            <a:endParaRPr lang="en-US" sz="2000" dirty="0">
              <a:latin typeface="Times New Roman"/>
              <a:ea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Times New Roman"/>
                <a:cs typeface="Times New Roman"/>
              </a:rPr>
              <a:t>4. Broader IBM Bob Workflows – Extend MCP tools and agentic workflows </a:t>
            </a:r>
            <a:r>
              <a:rPr lang="en-US" sz="2000" dirty="0" err="1">
                <a:latin typeface="Times New Roman"/>
                <a:ea typeface="Times New Roman"/>
                <a:cs typeface="Times New Roman"/>
              </a:rPr>
              <a:t>foradditional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 diagram-generation and document-preparation tasks.</a:t>
            </a:r>
          </a:p>
          <a:p>
            <a:endParaRPr lang="en-US" sz="2000" dirty="0">
              <a:latin typeface="Times New Roman"/>
              <a:ea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Times New Roman"/>
                <a:cs typeface="Times New Roman"/>
              </a:rPr>
              <a:t>5. Regional / Deployment Flexibility – Support additional Watson Studio regions </a:t>
            </a:r>
            <a:r>
              <a:rPr lang="en-US" sz="2000" dirty="0" err="1">
                <a:latin typeface="Times New Roman"/>
                <a:ea typeface="Times New Roman"/>
                <a:cs typeface="Times New Roman"/>
              </a:rPr>
              <a:t>andconfigurable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 Granite deployments through the existing environment-</a:t>
            </a:r>
            <a:r>
              <a:rPr lang="en-US" sz="2000" dirty="0" err="1">
                <a:latin typeface="Times New Roman"/>
                <a:ea typeface="Times New Roman"/>
                <a:cs typeface="Times New Roman"/>
              </a:rPr>
              <a:t>variablearchitecture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0" marR="0" lvl="0" indent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1850" b="1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F9C936-7352-8B8C-19F3-892CF830F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1" y="891396"/>
            <a:ext cx="8875059" cy="576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310DE-8286-C083-57CC-A2DE4E07C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46" y="920150"/>
            <a:ext cx="10049147" cy="59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1413</Words>
  <Application>Microsoft Office PowerPoint</Application>
  <PresentationFormat>Widescreen</PresentationFormat>
  <Paragraphs>123</Paragraphs>
  <Slides>19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Aswini Kumar Motapothula</cp:lastModifiedBy>
  <cp:revision>130</cp:revision>
  <dcterms:created xsi:type="dcterms:W3CDTF">2025-07-08T05:06:56Z</dcterms:created>
  <dcterms:modified xsi:type="dcterms:W3CDTF">2026-09-11T18:18:29Z</dcterms:modified>
</cp:coreProperties>
</file>